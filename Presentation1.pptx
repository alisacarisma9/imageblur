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7" r:id="rId8"/>
    <p:sldId id="270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5:21.2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483 363 24575,'6'-1'0,"1"-1"0,-1 0 0,0 1 0,0-2 0,0 1 0,0-1 0,5-3 0,13-5 0,-4 5 0,0 1 0,1 2 0,-1 0 0,1 1 0,0 1 0,21 1 0,-23 0 0,-262 0 0,250 0 0,1-2 0,0 1 0,0-1 0,0 0 0,-1-1 0,10-3 0,-8 2 0,1 0 0,0 1 0,15-3 0,18 3 0,0 1 0,75 6 0,-100 1 0,-26 0 0,-32 2 0,-132 11 0,50-3 0,70-15 0,41-1 0,1 1 0,-1 0 0,0 0 0,0 1 0,-14 3 0,24-4 0,1 0 0,0 0 0,0 0 0,0 0 0,-1 0 0,1 0 0,0 0 0,0 0 0,0 0 0,-1 0 0,1 0 0,0 0 0,0 0 0,0 0 0,-1 0 0,1 0 0,0 1 0,0-1 0,0 0 0,0 0 0,-1 0 0,1 0 0,0 0 0,0 0 0,0 1 0,0-1 0,0 0 0,-1 0 0,1 0 0,0 0 0,0 0 0,0 1 0,0-1 0,0 0 0,0 0 0,0 0 0,0 1 0,0-1 0,0 0 0,0 0 0,0 0 0,0 1 0,0-1 0,0 0 0,0 0 0,0 0 0,0 1 0,0-1 0,0 0 0,0 0 0,0 0 0,0 0 0,0 1 0,0-1 0,14 8 0,20 1 0,24 1 0,76 2 0,-98-9 0,-5 2 0,-29-4 0,-1-1 0,0 0 0,1 1 0,-1-1 0,0 0 0,0 1 0,1-1 0,-1 1 0,0 0 0,0 0 0,0-1 0,0 1 0,0 0 0,0 0 0,0 0 0,0 0 0,0 0 0,0 0 0,1 2 0,-2-2 0,-1 0 0,1 0 0,0 0 0,-1-1 0,1 1 0,-1 0 0,1 0 0,-1 0 0,1-1 0,-1 1 0,0 0 0,1-1 0,-1 1 0,0 0 0,0-1 0,1 1 0,-1-1 0,0 1 0,0-1 0,0 0 0,0 1 0,1-1 0,-1 0 0,0 0 0,0 1 0,0-1 0,0 0 0,0 0 0,-2 0 0,-82 19 0,0-3 0,-129 7 0,91-12 0,81-6 0,16-1 0,0-2 0,-33-1 0,58-1 0,1 1 0,0-1 0,-1 0 0,1 0 0,0 0 0,-1 0 0,1 0 0,-1-1 0,1 1 0,0 0 0,0 0 0,-1 0 0,1 0 0,0 0 0,-1 0 0,1 0 0,0-1 0,-1 1 0,1 0 0,0 0 0,0 0 0,-1-1 0,1 1 0,0 0 0,0 0 0,-1-1 0,1 1 0,0 0 0,0-1 0,0 1 0,0 0 0,0-1 0,-1 1 0,1 0 0,0-1 0,6-12 0,19-14 0,-24 26 0,16-13 0,-1 1 0,2 1 0,0 0 0,0 1 0,1 1 0,0 1 0,1 1 0,0 0 0,0 2 0,1 0 0,0 1 0,0 1 0,0 1 0,0 1 0,33 1 0,-74 2 0,9 0 0,0 0 0,-1-1 0,1 0 0,-1-1 0,-16-3 0,27 4 0,1-1 0,-1 1 0,1 0 0,-1 0 0,1-1 0,-1 1 0,1 0 0,-1 0 0,1-1 0,-1 1 0,1-1 0,-1 1 0,1 0 0,-1-1 0,1 1 0,0-1 0,-1 1 0,1-1 0,0 1 0,0-1 0,-1 1 0,1-1 0,0 1 0,0-1 0,0 0 0,0 1 0,0-1 0,-1 1 0,1-1 0,0 1 0,0-1 0,1 0 0,-1 1 0,0-1 0,0 1 0,0-1 0,0 1 0,0-1 0,1 0 0,-1 1 0,0-1 0,0 1 0,1-1 0,-1 1 0,0-1 0,1 1 0,-1 0 0,0-1 0,1 1 0,-1-1 0,2 0 0,26-24 0,24-8 0,2 3 0,2 1 0,85-29 0,-102 42 0,39-17 0,135-35 0,-185 64 0,-1 1 0,0 2 0,1 1 0,-1 1 0,33 5 0,-57-6 0,-2 0 0,0 0 0,0 0 0,0 0 0,0 0 0,0 0 0,0 0 0,0 1 0,0-1 0,-1 0 0,1 0 0,0 1 0,0-1 0,0 1 0,0-1 0,0 1 0,-1-1 0,1 1 0,0-1 0,0 1 0,-1 0 0,2 1 0,-2-1 0,0-1 0,0 1 0,0 0 0,0-1 0,0 1 0,0 0 0,0-1 0,0 1 0,0 0 0,-1-1 0,1 1 0,0 0 0,-1-1 0,1 1 0,0 0 0,-1-1 0,1 1 0,-1-1 0,1 1 0,-1-1 0,1 1 0,-1 0 0,-4 3 0,0 0 0,0 0 0,0 0 0,0-1 0,-7 3 0,-175 79 0,150-67 0,-37 20 0,69-36 0,0 0 0,0 0 0,0 0 0,0-1 0,0 0 0,0 0 0,-1 0 0,1 0 0,0-1 0,-1 0 0,1 0 0,0 0 0,-1-1 0,1 0 0,0 0 0,-1 0 0,1-1 0,0 1 0,-7-4 0,2 0 0,1 1 0,-1-1 0,1-1 0,0 1 0,0-2 0,0 1 0,1-1 0,-14-15 0,21 21 0,0 0 0,1 0 0,-1 0 0,0 0 0,0 0 0,1 0 0,-1 0 0,0 0 0,1-1 0,-1 1 0,1 0 0,0 0 0,-1-1 0,1 1 0,0 0 0,0 0 0,0-3 0,0 3 0,0 1 0,1-1 0,-1 0 0,0 0 0,1 0 0,-1 1 0,1-1 0,-1 0 0,1 1 0,-1-1 0,1 0 0,0 1 0,-1-1 0,1 1 0,0-1 0,-1 1 0,1-1 0,0 1 0,0 0 0,0-1 0,7-2 0,0 1 0,1 0 0,-1 1 0,15-1 0,2-1 0,6-5 0,0 2 0,1 1 0,63-2 0,-67 7 0,-18-1 0,-1 1 0,1 0 0,0 0 0,0 1 0,10 3 0,-19-4 0,-1 0 0,1 1 0,-1-1 0,1 0 0,-1 0 0,1 1 0,-1-1 0,0 0 0,1 1 0,-1-1 0,1 0 0,-1 1 0,0-1 0,1 1 0,-1-1 0,0 0 0,0 1 0,1-1 0,-1 1 0,0-1 0,0 1 0,0-1 0,1 1 0,-1-1 0,0 1 0,0-1 0,0 1 0,0-1 0,0 1 0,0 0 0,0-1 0,0 1 0,0-1 0,-1 1 0,1-1 0,0 1 0,0-1 0,0 1 0,0-1 0,-1 1 0,1-1 0,0 0 0,-1 1 0,1-1 0,0 1 0,-1-1 0,1 1 0,-20 21 0,-16 9 0,-2-3 0,-44 27 0,68-46 0,-139 89 0,125-87 0,29-14 0,17-5 0,-10 5-227,1 0-1,-1 1 1,1 0-1,0 1 1,9-1-1,-3 2-6598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5:46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24575,'-1'5'0,"-1"0"0,0 0 0,0 0 0,0 0 0,-1 0 0,1-1 0,-1 1 0,0-1 0,-1 0 0,-6 7 0,4-3 0,-92 100 0,28-25 0,63-75-1365,2-1-5461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5:49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24575,'1'8'0,"1"0"0,0 0 0,0 0 0,1 0 0,0 0 0,1-1 0,-1 0 0,2 1 0,-1-1 0,9 10 0,11 22 0,-21-34 14,0 0 0,0-1 0,1 1 0,0-1 0,0 0 0,0 0 0,0 0 0,8 5 0,19 18-1505,-24-19-5335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6:03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339 187 24575,'1'0'0,"19"1"0,0-1 0,0 0 0,0-2 0,0 0 0,0-1 0,-1-1 0,1-1 0,26-11 0,17-15 0,-2-3 0,71-51 0,-123 79 0,-7 9 0,-13 16 0,-26 26 0,-107 98 0,130-132 0,11-9 0,0 1 0,1-1 0,-1 0 0,0 0 0,1 1 0,-1 0 0,1-1 0,0 1 0,0 0 0,0 0 0,0 0 0,-2 6 0,4-9 0,1 1 0,-1 0 0,0-1 0,1 1 0,-1-1 0,0 1 0,1 0 0,-1-1 0,1 1 0,-1-1 0,1 1 0,-1-1 0,1 1 0,-1-1 0,1 0 0,0 1 0,-1-1 0,1 0 0,-1 1 0,1-1 0,0 0 0,-1 0 0,1 0 0,0 1 0,-1-1 0,1 0 0,0 0 0,0 0 0,-1 0 0,2 0 0,27 1 0,-25-1 0,153 1 0,-272 16 0,28-6 0,-99 27 0,186-38 0,-1 0 0,0 0 0,0 1 0,0-1 0,1 0 0,-1 0 0,0 0 0,0 1 0,0-1 0,1 0 0,-1 1 0,0-1 0,1 1 0,-1-1 0,0 1 0,1-1 0,-1 1 0,0-1 0,1 1 0,-1 0 0,1-1 0,-1 1 0,1 0 0,0-1 0,-1 1 0,1 0 0,0 0 0,-1-1 0,1 1 0,0 0 0,0 0 0,0-1 0,0 1 0,-1 0 0,1 0 0,0 0 0,0 0 0,1-1 0,-1 1 0,0 0 0,0 0 0,0 0 0,0-1 0,1 1 0,-1 0 0,0 0 0,1-1 0,-1 1 0,1 0 0,0 0 0,2 7 0,-3-8 0,0 1 0,0-1 0,0 1 0,0-1 0,0 1 0,0-1 0,0 1 0,0-1 0,0 0 0,0 1 0,0-1 0,0 1 0,0-1 0,0 1 0,0-1 0,0 1 0,-1-1 0,1 1 0,0-1 0,0 0 0,-1 1 0,1-1 0,0 1 0,0-1 0,-1 0 0,1 1 0,0-1 0,-1 0 0,0 1 0,-17 5 0,-24-4 0,39-2 0,122 14 0,-74-15 0,-27 1 0,-15 0 0,-6 0 0,-41-1 0,-70-9 0,91 7 0,-47 2 0,218 1 0,-242-2 0,26 0 0,-68 7 0,135-5 0,1 0 0,-1 0 0,0 0 0,0 0 0,0 0 0,0 0 0,0 0 0,1 0 0,-1 1 0,0-1 0,0 0 0,0 0 0,1 1 0,-1-1 0,0 1 0,0-1 0,1 1 0,-1-1 0,0 1 0,1-1 0,-1 1 0,0 0 0,1-1 0,-1 1 0,1 0 0,-1-1 0,1 1 0,-1 1 0,1-1 0,0 0 0,1 1 0,-1-1 0,0 0 0,0 0 0,1 1 0,-1-1 0,1 0 0,-1 0 0,1 1 0,-1-1 0,1 0 0,0 0 0,-1 0 0,3 2 0,36 34 0,68 52 0,-138-104 0,6 4 0,8 1 0,5 2 0,1 1 0,-1 1 0,0 0 0,0 0 0,-1 1 0,0 1 0,1 0 0,-2 1 0,-18-3 0,32 6 0,0 1 0,-1-1 0,1 0 0,-1 0 0,1 0 0,0 0 0,-1 0 0,1 0 0,-1 0 0,1 0 0,0 0 0,-1 0 0,1 0 0,-1 0 0,1 0 0,0 0 0,-1 0 0,1 0 0,-1 0 0,1-1 0,0 1 0,-1 0 0,1 0 0,0 0 0,-1-1 0,1 1 0,0 0 0,-1-1 0,1 1 0,0 0 0,0 0 0,-1-1 0,1 1 0,0-1 0,14-8 0,43-11 0,-44 16 0,94-39 0,18-7 0,-106 44 0,0 1 0,1 1 0,-1 0 0,33-1 0,-64 16 0,-11 3 0,21-13 0,0 0 0,0 1 0,0-1 0,1 0 0,-1 1 0,0-1 0,1 1 0,-1 0 0,1-1 0,-1 1 0,1 0 0,0 0 0,0 0 0,0 0 0,0 0 0,0 0 0,0 0 0,0 3 0,-1 3 0,0 0 0,0 0 0,1 1 0,0 12 0,3 27 0,1-33 0,-2-77 0,-2-67 0,1 128 0,0 1 0,0 0 0,0 0 0,0 0 0,0 0 0,0-1 0,0 1 0,0 0 0,0 0 0,0 0 0,0 0 0,0-1 0,0 1 0,0 0 0,0 0 0,0 0 0,0-1 0,0 1 0,0 0 0,0 0 0,0 0 0,0 0 0,0-1 0,0 1 0,0 0 0,-1 0 0,1 0 0,0 0 0,0 0 0,0-1 0,0 1 0,0 0 0,0 0 0,-1 0 0,1 0 0,0 0 0,0 0 0,0 0 0,0 0 0,-1-1 0,1 1 0,0 0 0,0 0 0,0 0 0,0 0 0,-1 0 0,1 0 0,0 0 0,0 0 0,0 0 0,-1 0 0,1 0 0,0 0 0,0 0 0,0 0 0,0 1 0,-1-1 0,1 0 0,0 0 0,0 0 0,0 0 0,0 0 0,-1 0 0,1 0 0,0 1 0,-13 16 0,-7 26 0,7-16-1365,6-17-5461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6:3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24575,'-1'74'0,"2"79"0,6-106 0,0 19 0,-5-50-2,0 0 0,1-1 0,0 1 0,10 23 0,-2 0-1353,-8-27-5471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1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3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06:37:24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64AD-F28C-368E-1407-634A423F7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89A39-63A2-C741-4CB7-1D6EF1511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E80A-2D44-08B6-0EC2-363CAEBC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49410-4C38-BEE3-7E54-70A2093D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14974-0ABD-2F0E-9EAA-21DBA62D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5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9667-1BE7-C5E2-E74A-E5A845518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6F5E-6786-4122-D0F5-76AE753C7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A124A-F010-04F4-C723-5F74DD2C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3475-E887-3844-8F4C-B76E5782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3F7B-9E4F-996E-2936-0905472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7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F990-1FDC-7BF1-7AA3-2D88E35C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C9840-6591-B899-28BB-35484CF1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10BAA-73C3-3D78-64FB-58BCAD9B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A235-C60B-A230-D2E6-CF2CE400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7DA9-E524-0E69-6C0C-7BAA40AA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27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79F8-557A-BC7F-0590-1CC25F52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9390-5394-0B5B-3FF1-B14E07634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B9E8B-6447-B502-443F-5A5CE4D1B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534DB-3A70-03FC-1D9F-C775E666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2FA17-F557-B93A-6E42-B001579A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9E171-8EF5-0D5E-5BCA-799618C9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06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5CD0-7E8B-49EA-9834-E57C4548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AC9D6-09F1-E32A-167F-B5902E0CD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A3770-0FAD-F788-000A-88B1BBD82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B9B39-9718-4698-0246-9703A25A8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370D4-2F85-3EC1-C952-624736DAC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F2681-FA64-2D8E-F3DE-42D29CB7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09942-5D33-C779-E98A-40E806BA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4BE1F-4FFB-7BD4-8653-A9176E9C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41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9987-AC56-96CA-E970-A85A8096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EC4D9-2D8C-3EDA-11A9-AF818734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F2BFA-B106-76E9-97D2-5FE057A6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F43D1-92EC-D718-1DD3-D1902522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59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3870F-0D75-0A05-03F9-434BF3B8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2C6EB-D6DF-A603-5B6F-89F02D0F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FA0ED-1999-115D-857A-C3118E12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0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FA05-3037-8A94-62DC-54F8F1BB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C1B0-DC23-3783-A49F-E3AC11A5C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65AA5-2A4D-F52E-F417-1C7224F32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A547C-BA57-D4DF-7FC7-73013F95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B3A39-A9A3-C934-FCFE-4D84BFDA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E8C94-0960-24B8-417F-1DEEE99D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9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0AB7-EED5-C599-6327-CFB42DD1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076CD-2A1A-0426-41B0-39349614D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0CB97-1798-F233-108B-F3DDDDEE3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4A466-3D17-6BC9-0F3E-A7673B79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21D49-5DD3-D7F5-FA5A-39C5CF95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8D5DF-272F-A34B-ED19-9B589AD3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81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AD83-C14E-8F0F-4084-4734A204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8DB81-46E6-A800-D831-C41A260F4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64928-D67F-470B-2727-2E6752AF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55CEE-74CF-1FA8-59AD-869C0081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DBBF6-072E-8A62-1A5E-C2AA803D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6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08D7B-EE13-D45E-19EB-2EA93E9D8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710DB-75C7-C284-B72B-034BCC505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40168-484F-2BAA-F094-1F851DA5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3DDB3-DB96-CB9F-F544-9D44E10D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5C15B-5F93-AEC9-19A7-A5EA68EB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45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58D14-DAED-DEB0-E3BA-7552B806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F3E13-04CE-A7CA-D9AF-F5BE2510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07D4-D4CC-9F4A-1EA6-FF778F121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C6872-4760-4729-85A0-DC7E2625E2F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3CD20-CB5A-B6FA-90C5-8988F3860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95FD3-D8DA-B2AD-B100-94795924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BAC8E-D5E2-41F7-8BCD-429F20CF7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0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8.png"/><Relationship Id="rId7" Type="http://schemas.openxmlformats.org/officeDocument/2006/relationships/customXml" Target="../ink/ink10.xm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vikshith9" TargetMode="External"/><Relationship Id="rId2" Type="http://schemas.openxmlformats.org/officeDocument/2006/relationships/hyperlink" Target="https://github.com/alisacarisma9/imageblu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shwinmadtha" TargetMode="External"/><Relationship Id="rId4" Type="http://schemas.openxmlformats.org/officeDocument/2006/relationships/hyperlink" Target="https://github.com/Adithya1611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C07D-300C-4E35-9FCE-3C7DBF97B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0915"/>
            <a:ext cx="9144000" cy="262521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Title:</a:t>
            </a:r>
            <a:br>
              <a:rPr lang="en-I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/>
              <a:t>FPGA-Based Image Blur Filter using Parallel Matrix Computation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0D8EA-3502-80EC-902D-1629AC6D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10" y="4552333"/>
            <a:ext cx="9144000" cy="2172931"/>
          </a:xfrm>
        </p:spPr>
        <p:txBody>
          <a:bodyPr>
            <a:normAutofit fontScale="62500" lnSpcReduction="20000"/>
          </a:bodyPr>
          <a:lstStyle/>
          <a:p>
            <a:r>
              <a:rPr lang="en-IN" b="1" i="1" dirty="0"/>
              <a:t>(FPGA-Based Design Project)</a:t>
            </a:r>
          </a:p>
          <a:p>
            <a:pPr algn="l"/>
            <a:r>
              <a:rPr lang="en-IN" sz="3000" b="1" dirty="0"/>
              <a:t>Team members:</a:t>
            </a:r>
          </a:p>
          <a:p>
            <a:pPr algn="l"/>
            <a:r>
              <a:rPr lang="en-IN" sz="3000" b="1" dirty="0"/>
              <a:t>Alisa </a:t>
            </a:r>
            <a:r>
              <a:rPr lang="en-IN" sz="3000" b="1" dirty="0" err="1"/>
              <a:t>carisma</a:t>
            </a:r>
            <a:r>
              <a:rPr lang="en-IN" sz="3000" b="1" dirty="0"/>
              <a:t> Fernandes (4SO24EC007)</a:t>
            </a:r>
          </a:p>
          <a:p>
            <a:pPr algn="l"/>
            <a:r>
              <a:rPr lang="en-IN" sz="3000" b="1" dirty="0" err="1"/>
              <a:t>Avikshith</a:t>
            </a:r>
            <a:r>
              <a:rPr lang="en-IN" sz="3000" b="1" dirty="0"/>
              <a:t> </a:t>
            </a:r>
            <a:r>
              <a:rPr lang="en-IN" sz="3000" b="1" dirty="0" err="1"/>
              <a:t>dion</a:t>
            </a:r>
            <a:r>
              <a:rPr lang="en-IN" sz="3000" b="1" dirty="0"/>
              <a:t> (4S024EC019)</a:t>
            </a:r>
          </a:p>
          <a:p>
            <a:pPr algn="l"/>
            <a:r>
              <a:rPr lang="en-IN" sz="3000" b="1" dirty="0"/>
              <a:t>Adhithya K (4S024EC005)</a:t>
            </a:r>
          </a:p>
          <a:p>
            <a:pPr algn="l"/>
            <a:r>
              <a:rPr lang="en-IN" sz="3000" b="1" dirty="0"/>
              <a:t>Ashwin </a:t>
            </a:r>
            <a:r>
              <a:rPr lang="en-IN" sz="3000" b="1" dirty="0" err="1"/>
              <a:t>madtha</a:t>
            </a:r>
            <a:r>
              <a:rPr lang="en-IN" sz="3000" b="1"/>
              <a:t> (4SO24EC017)</a:t>
            </a:r>
            <a:br>
              <a:rPr lang="en-IN" sz="3000" b="1" dirty="0"/>
            </a:b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0916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F4AF-EC7C-F56E-17FA-9A0416624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3058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D10F-9B74-9D5C-A7E8-6A0AFC02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755"/>
            <a:ext cx="10515600" cy="54592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Modern applications such as biomedical signal analysis, climate modelling, and artificial intelligence rely heavily on matrix computations. Software-based matrix multiplication consumes high computational time and energy, especially in resource-constrained embedded systems. Develop a hardware solution on FPGA that significantly improves the performance and energy efficiency of matrix-based computations compared to a sequential implementation.</a:t>
            </a:r>
          </a:p>
          <a:p>
            <a:pPr marL="0" indent="0">
              <a:buNone/>
            </a:pPr>
            <a:r>
              <a:rPr lang="en-US" sz="4400" dirty="0"/>
              <a:t>Objectives:</a:t>
            </a:r>
          </a:p>
          <a:p>
            <a:r>
              <a:rPr lang="en-US" dirty="0">
                <a:effectLst/>
              </a:rPr>
              <a:t>Creating a blur filter on FPGA.</a:t>
            </a:r>
            <a:endParaRPr lang="en-US" dirty="0"/>
          </a:p>
          <a:p>
            <a:r>
              <a:rPr lang="en-US" dirty="0">
                <a:effectLst/>
              </a:rPr>
              <a:t>Using parallel computation to speed things up.</a:t>
            </a:r>
            <a:endParaRPr lang="en-US" dirty="0"/>
          </a:p>
          <a:p>
            <a:r>
              <a:rPr lang="en-US" dirty="0">
                <a:effectLst/>
              </a:rPr>
              <a:t>Making the system efficient enough for real-time use.</a:t>
            </a:r>
            <a:endParaRPr lang="en-US" dirty="0"/>
          </a:p>
          <a:p>
            <a:r>
              <a:rPr lang="en-US" dirty="0">
                <a:effectLst/>
              </a:rPr>
              <a:t>Ensuring the design is reliable through proper testing.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64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06EF-7A1F-4670-92AF-C6662920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53D9-B905-7258-8506-E7B4CE1D9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effectLst/>
              </a:rPr>
              <a:t>Over the past few years, matrix computations have become the backbone of many modern applications — from biomedical signal analysis and climate modeling to artificial intelligence. These operations drive essential tasks like image processing, pattern recognition, and large-scale data analysis.</a:t>
            </a:r>
            <a:endParaRPr lang="en-US" dirty="0"/>
          </a:p>
          <a:p>
            <a:r>
              <a:rPr lang="en-US" dirty="0">
                <a:effectLst/>
              </a:rPr>
              <a:t>In image processing, one of the most common techniques is </a:t>
            </a:r>
            <a:r>
              <a:rPr lang="en-US" b="1" dirty="0">
                <a:effectLst/>
              </a:rPr>
              <a:t>blurring</a:t>
            </a:r>
            <a:r>
              <a:rPr lang="en-US" dirty="0">
                <a:effectLst/>
              </a:rPr>
              <a:t>, which helps reduce noise and smooth out details. This is typically achieved through </a:t>
            </a:r>
            <a:r>
              <a:rPr lang="en-US" b="1" dirty="0">
                <a:effectLst/>
              </a:rPr>
              <a:t>convolution</a:t>
            </a:r>
            <a:r>
              <a:rPr lang="en-US" dirty="0">
                <a:effectLst/>
              </a:rPr>
              <a:t>, where an image is combined with a kernel using matrix multiplication.</a:t>
            </a:r>
            <a:endParaRPr lang="en-US" dirty="0"/>
          </a:p>
          <a:p>
            <a:r>
              <a:rPr lang="en-US" dirty="0">
                <a:effectLst/>
              </a:rPr>
              <a:t>The challenge, however, is that performing these matrix operations purely in software can be slow and power-hungry, especially in real-time or embedded systems. That’s where </a:t>
            </a:r>
            <a:r>
              <a:rPr lang="en-US" b="1" dirty="0">
                <a:effectLst/>
              </a:rPr>
              <a:t>FPGAs (Field Programmable Gate Arrays)</a:t>
            </a:r>
            <a:r>
              <a:rPr lang="en-US" dirty="0">
                <a:effectLst/>
              </a:rPr>
              <a:t> come in. By leveraging hardware-based parallel processing, FPGAs can handle multiple computations simultaneously, delivering faster performance and greater efficiency compared to traditional software approaches.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07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2934-8437-D54B-E6A3-DD31481C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12604"/>
          </a:xfrm>
        </p:spPr>
        <p:txBody>
          <a:bodyPr/>
          <a:lstStyle/>
          <a:p>
            <a:r>
              <a:rPr lang="en-US" b="1" dirty="0"/>
              <a:t> Review of Existing Work: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3E9B-A6B7-C59B-3B6E-2C6160F6C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effectLst/>
              </a:rPr>
              <a:t>A research has already been carried out on FPGA-based image processing systems. Most of these studies rely on convolution techniques, which are widely used for tasks such as blurring, sharpening, and edge detection.</a:t>
            </a:r>
            <a:endParaRPr lang="en-US" dirty="0"/>
          </a:p>
          <a:p>
            <a:r>
              <a:rPr lang="en-US" dirty="0">
                <a:effectLst/>
              </a:rPr>
              <a:t>Early implementations followed a </a:t>
            </a:r>
            <a:r>
              <a:rPr lang="en-US" b="1" dirty="0">
                <a:effectLst/>
              </a:rPr>
              <a:t>sequential approach</a:t>
            </a:r>
            <a:r>
              <a:rPr lang="en-US" dirty="0">
                <a:effectLst/>
              </a:rPr>
              <a:t>, where each pixel was processed one after another. While this method is straightforward, it quickly becomes inefficient when dealing with large images or applications that demand real-time performance.</a:t>
            </a:r>
            <a:endParaRPr lang="en-US" dirty="0"/>
          </a:p>
          <a:p>
            <a:r>
              <a:rPr lang="en-US" dirty="0">
                <a:effectLst/>
              </a:rPr>
              <a:t>To overcome these limitations, more recent work has shifted toward </a:t>
            </a:r>
            <a:r>
              <a:rPr lang="en-US" b="1" dirty="0">
                <a:effectLst/>
              </a:rPr>
              <a:t>parallel architectures</a:t>
            </a:r>
            <a:r>
              <a:rPr lang="en-US" dirty="0">
                <a:effectLst/>
              </a:rPr>
              <a:t> on FPGA. By allowing multiple computations to run at the same time, these designs achieve much higher speeds. Thus clear improvements in throughput and overall efficiency are compared to traditional sequential methods.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07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1597-D345-2DA3-6A90-FD296251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4B04C-3E28-FDB6-40E1-2CD1E7054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54" y="1825625"/>
            <a:ext cx="2900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6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F246-477E-45EB-0BC6-8C4127D0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6E385F-AF53-DAD4-43EA-4E16411C4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2451"/>
            <a:ext cx="10515600" cy="43376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0858AC-BD04-C439-A634-B629D2E59A58}"/>
                  </a:ext>
                </a:extLst>
              </p14:cNvPr>
              <p14:cNvContentPartPr/>
              <p14:nvPr/>
            </p14:nvContentPartPr>
            <p14:xfrm>
              <a:off x="1563480" y="3722088"/>
              <a:ext cx="413640" cy="18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0858AC-BD04-C439-A634-B629D2E59A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7360" y="3715968"/>
                <a:ext cx="425880" cy="1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E6917C8-BC7E-7F13-8552-6C7C64C048F7}"/>
              </a:ext>
            </a:extLst>
          </p:cNvPr>
          <p:cNvGrpSpPr/>
          <p:nvPr/>
        </p:nvGrpSpPr>
        <p:grpSpPr>
          <a:xfrm>
            <a:off x="1398600" y="3545840"/>
            <a:ext cx="142200" cy="98280"/>
            <a:chOff x="1398600" y="3545840"/>
            <a:chExt cx="14220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3550A0-7F62-1D8A-1A5D-593898061F8B}"/>
                    </a:ext>
                  </a:extLst>
                </p14:cNvPr>
                <p14:cNvContentPartPr/>
                <p14:nvPr/>
              </p14:nvContentPartPr>
              <p14:xfrm>
                <a:off x="1398600" y="3545840"/>
                <a:ext cx="79560" cy="9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3550A0-7F62-1D8A-1A5D-593898061F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92480" y="3539720"/>
                  <a:ext cx="91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B5DAF0-E44E-B8F7-83B1-9F83A9A65997}"/>
                    </a:ext>
                  </a:extLst>
                </p14:cNvPr>
                <p14:cNvContentPartPr/>
                <p14:nvPr/>
              </p14:nvContentPartPr>
              <p14:xfrm>
                <a:off x="1488240" y="3555920"/>
                <a:ext cx="52560" cy="7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B5DAF0-E44E-B8F7-83B1-9F83A9A659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82120" y="3549800"/>
                  <a:ext cx="6480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A39D789-37C2-1756-BB42-B7F87530CF6A}"/>
                  </a:ext>
                </a:extLst>
              </p14:cNvPr>
              <p14:cNvContentPartPr/>
              <p14:nvPr/>
            </p14:nvContentPartPr>
            <p14:xfrm>
              <a:off x="1615320" y="3661400"/>
              <a:ext cx="292680" cy="200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A39D789-37C2-1756-BB42-B7F87530CF6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9200" y="3655280"/>
                <a:ext cx="3049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894F89-1E00-CAAD-A8D3-5B4FDA831367}"/>
                  </a:ext>
                </a:extLst>
              </p14:cNvPr>
              <p14:cNvContentPartPr/>
              <p14:nvPr/>
            </p14:nvContentPartPr>
            <p14:xfrm>
              <a:off x="1757160" y="3708200"/>
              <a:ext cx="19440" cy="17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894F89-1E00-CAAD-A8D3-5B4FDA8313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1040" y="3702080"/>
                <a:ext cx="31680" cy="1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775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DF0A-9D29-79D3-BCD2-06DA63F8C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334" y="-1358492"/>
            <a:ext cx="9144000" cy="2387600"/>
          </a:xfrm>
        </p:spPr>
        <p:txBody>
          <a:bodyPr/>
          <a:lstStyle/>
          <a:p>
            <a:r>
              <a:rPr lang="en-IN" u="sng" dirty="0"/>
              <a:t>Software requirements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E1BBF-0F3E-C869-6F24-BD5857B82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367" y="1377351"/>
            <a:ext cx="11644132" cy="5480649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IN" sz="6000" b="1" dirty="0"/>
              <a:t>Tools used: </a:t>
            </a:r>
            <a:r>
              <a:rPr lang="en-US" sz="6000" dirty="0"/>
              <a:t>The design and verification process was carried out using </a:t>
            </a:r>
            <a:r>
              <a:rPr lang="en-US" sz="6000" b="1" dirty="0" err="1"/>
              <a:t>Vivado</a:t>
            </a:r>
            <a:r>
              <a:rPr lang="en-US" sz="6000" b="1" dirty="0"/>
              <a:t> Design Suite 2018.2</a:t>
            </a:r>
            <a:r>
              <a:rPr lang="en-US" sz="6000" dirty="0"/>
              <a:t>, which served as the primary platform for HDL development, simulation, and analysis.</a:t>
            </a:r>
            <a:endParaRPr lang="en-IN" sz="6000" dirty="0"/>
          </a:p>
          <a:p>
            <a:pPr algn="l"/>
            <a:r>
              <a:rPr lang="en-US" sz="6000" b="1" dirty="0"/>
              <a:t>Testbench </a:t>
            </a:r>
            <a:r>
              <a:rPr lang="en-US" sz="6000" b="1" dirty="0" err="1"/>
              <a:t>Simulation:</a:t>
            </a:r>
            <a:r>
              <a:rPr lang="en-US" sz="6000" dirty="0" err="1"/>
              <a:t>Custom</a:t>
            </a:r>
            <a:r>
              <a:rPr lang="en-US" sz="6000" dirty="0"/>
              <a:t> testbenches were created for each module and executed in Vivado’s built-in simulator. These simulations ensured that the modules behaved correctly under different input scenarios.</a:t>
            </a:r>
          </a:p>
          <a:p>
            <a:pPr algn="l"/>
            <a:r>
              <a:rPr lang="en-US" sz="6000" b="1" dirty="0"/>
              <a:t>Waveform </a:t>
            </a:r>
            <a:r>
              <a:rPr lang="en-US" sz="6000" b="1" dirty="0" err="1"/>
              <a:t>Analysis:</a:t>
            </a:r>
            <a:r>
              <a:rPr lang="en-US" sz="6000" dirty="0" err="1"/>
              <a:t>Simulation</a:t>
            </a:r>
            <a:r>
              <a:rPr lang="en-US" sz="6000" dirty="0"/>
              <a:t> outputs were observed through waveform plots. The timing and logical behavior were carefully checked to confirm that the modules produced the expected results.</a:t>
            </a:r>
          </a:p>
          <a:p>
            <a:pPr algn="l"/>
            <a:r>
              <a:rPr lang="en-US" sz="6000" b="1" dirty="0"/>
              <a:t>RTL/Circuit </a:t>
            </a:r>
            <a:r>
              <a:rPr lang="en-US" sz="6000" b="1" dirty="0" err="1"/>
              <a:t>Diagram:</a:t>
            </a:r>
            <a:r>
              <a:rPr lang="en-US" sz="6000" dirty="0" err="1"/>
              <a:t>Vivado’s</a:t>
            </a:r>
            <a:r>
              <a:rPr lang="en-US" sz="6000" dirty="0"/>
              <a:t> </a:t>
            </a:r>
            <a:r>
              <a:rPr lang="en-US" sz="6000" b="1" dirty="0"/>
              <a:t>RTL Analysis</a:t>
            </a:r>
            <a:r>
              <a:rPr lang="en-US" sz="6000" dirty="0"/>
              <a:t> feature was used to automatically generate schematic diagrams of the modules, providing a clear visualization of the internal structure and signal flow.</a:t>
            </a:r>
          </a:p>
          <a:p>
            <a:pPr algn="l"/>
            <a:r>
              <a:rPr lang="en-US" sz="6000" b="1" dirty="0"/>
              <a:t>draw.io (diagrams.net):</a:t>
            </a:r>
            <a:r>
              <a:rPr lang="en-US" sz="6000" dirty="0"/>
              <a:t>The overall </a:t>
            </a:r>
            <a:r>
              <a:rPr lang="en-US" sz="6000" b="1" dirty="0"/>
              <a:t>Block Diagram</a:t>
            </a:r>
            <a:r>
              <a:rPr lang="en-US" sz="6000" dirty="0"/>
              <a:t> and </a:t>
            </a:r>
            <a:r>
              <a:rPr lang="en-US" sz="6000" b="1" dirty="0"/>
              <a:t>Architecture Diagram</a:t>
            </a:r>
            <a:r>
              <a:rPr lang="en-US" sz="6000" dirty="0"/>
              <a:t> of the system were designed using draw.io, offering a high-level representation of how the modules interact within the complete design.</a:t>
            </a:r>
          </a:p>
          <a:p>
            <a:pPr marL="0" indent="0" algn="l">
              <a:buNone/>
            </a:pPr>
            <a:endParaRPr lang="en-IN" sz="6000" b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AAC3A-E6D8-89AF-84CD-2988C864A2A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-787402"/>
            <a:ext cx="5181600" cy="23876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3AC39C-14C8-ED05-BEF5-06F3BF5EB897}"/>
                  </a:ext>
                </a:extLst>
              </p14:cNvPr>
              <p14:cNvContentPartPr/>
              <p14:nvPr/>
            </p14:nvContentPartPr>
            <p14:xfrm>
              <a:off x="4780413" y="214127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3AC39C-14C8-ED05-BEF5-06F3BF5EB8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293" y="213515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9F8BBB-ACC9-B6B2-8FFC-04FC59A9045A}"/>
                  </a:ext>
                </a:extLst>
              </p14:cNvPr>
              <p14:cNvContentPartPr/>
              <p14:nvPr/>
            </p14:nvContentPartPr>
            <p14:xfrm>
              <a:off x="4490973" y="230327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9F8BBB-ACC9-B6B2-8FFC-04FC59A904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4853" y="2297151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DED2EED-A409-FB5E-A62C-C76414888364}"/>
              </a:ext>
            </a:extLst>
          </p:cNvPr>
          <p:cNvGrpSpPr/>
          <p:nvPr/>
        </p:nvGrpSpPr>
        <p:grpSpPr>
          <a:xfrm>
            <a:off x="4294053" y="1377351"/>
            <a:ext cx="360" cy="360"/>
            <a:chOff x="4294053" y="137735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7212CA-F38C-3AF3-6B70-0F8EA39427B3}"/>
                    </a:ext>
                  </a:extLst>
                </p14:cNvPr>
                <p14:cNvContentPartPr/>
                <p14:nvPr/>
              </p14:nvContentPartPr>
              <p14:xfrm>
                <a:off x="4294053" y="1377351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7212CA-F38C-3AF3-6B70-0F8EA39427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7933" y="137123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3CDA4E-D0B0-78D8-A2CD-5B1D1AD916E3}"/>
                    </a:ext>
                  </a:extLst>
                </p14:cNvPr>
                <p14:cNvContentPartPr/>
                <p14:nvPr/>
              </p14:nvContentPartPr>
              <p14:xfrm>
                <a:off x="4294053" y="1377351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3CDA4E-D0B0-78D8-A2CD-5B1D1AD916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7933" y="137123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81E6F4-D769-958E-589D-ED9C6D41B117}"/>
                    </a:ext>
                  </a:extLst>
                </p14:cNvPr>
                <p14:cNvContentPartPr/>
                <p14:nvPr/>
              </p14:nvContentPartPr>
              <p14:xfrm>
                <a:off x="4294053" y="1377351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81E6F4-D769-958E-589D-ED9C6D41B1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7933" y="137123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17F038-B276-82A0-ED81-D8AF25231272}"/>
                    </a:ext>
                  </a:extLst>
                </p14:cNvPr>
                <p14:cNvContentPartPr/>
                <p14:nvPr/>
              </p14:nvContentPartPr>
              <p14:xfrm>
                <a:off x="4294053" y="1377351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17F038-B276-82A0-ED81-D8AF252312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7933" y="137123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687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FB0D-FD0F-7BA4-959C-9FA420E1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-914399"/>
            <a:ext cx="11247120" cy="2605088"/>
          </a:xfrm>
        </p:spPr>
        <p:txBody>
          <a:bodyPr/>
          <a:lstStyle/>
          <a:p>
            <a:r>
              <a:rPr lang="en-US" b="1" u="sng" dirty="0" err="1"/>
              <a:t>Theoritical</a:t>
            </a:r>
            <a:r>
              <a:rPr lang="en-US" b="1" u="sng" dirty="0"/>
              <a:t> background: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B3B16-17D1-A4BC-DB13-3B904D50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868679"/>
            <a:ext cx="12085320" cy="5989321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IN" sz="2900" b="1" u="sng" dirty="0"/>
              <a:t>1.D Flip-Flop (1-bit):</a:t>
            </a:r>
            <a:r>
              <a:rPr lang="en-IN" sz="2900" dirty="0"/>
              <a:t>Inside shift </a:t>
            </a:r>
            <a:r>
              <a:rPr lang="en-IN" sz="2900" dirty="0" err="1"/>
              <a:t>registers</a:t>
            </a:r>
            <a:r>
              <a:rPr lang="en-IN" sz="2900" b="1" dirty="0" err="1"/>
              <a:t>,</a:t>
            </a:r>
            <a:r>
              <a:rPr lang="en-IN" sz="2900" dirty="0" err="1"/>
              <a:t>Inside</a:t>
            </a:r>
            <a:r>
              <a:rPr lang="en-IN" sz="2900" dirty="0"/>
              <a:t> output registers</a:t>
            </a:r>
          </a:p>
          <a:p>
            <a:pPr lvl="0"/>
            <a:r>
              <a:rPr lang="en-IN" sz="2900" dirty="0"/>
              <a:t>Everywhere data needs to be stored per clock</a:t>
            </a:r>
          </a:p>
          <a:p>
            <a:r>
              <a:rPr lang="en-IN" sz="2900" b="1" dirty="0"/>
              <a:t>FORMULA:</a:t>
            </a:r>
            <a:r>
              <a:rPr lang="en-IN" sz="2900" dirty="0"/>
              <a:t>Q(t+1)=D</a:t>
            </a:r>
          </a:p>
          <a:p>
            <a:pPr marL="0" indent="0">
              <a:buNone/>
            </a:pPr>
            <a:r>
              <a:rPr lang="en-IN" sz="2900" b="1" u="sng" dirty="0"/>
              <a:t>2. Shift Register (8-bit):</a:t>
            </a:r>
            <a:endParaRPr lang="en-IN" sz="2900" u="sng" dirty="0"/>
          </a:p>
          <a:p>
            <a:r>
              <a:rPr lang="en-IN" sz="2900" dirty="0"/>
              <a:t>To move pixel data step-by-step</a:t>
            </a:r>
          </a:p>
          <a:p>
            <a:pPr lvl="0"/>
            <a:r>
              <a:rPr lang="en-IN" sz="2900" dirty="0"/>
              <a:t>Forms part of sliding window</a:t>
            </a:r>
          </a:p>
          <a:p>
            <a:r>
              <a:rPr lang="en-IN" sz="2900" b="1" dirty="0"/>
              <a:t>FORMULA:</a:t>
            </a:r>
            <a:r>
              <a:rPr lang="en-IN" sz="2900" dirty="0"/>
              <a:t>Q(t+1)=Qi-1(t)</a:t>
            </a:r>
          </a:p>
          <a:p>
            <a:pPr marL="0" indent="0">
              <a:buNone/>
            </a:pPr>
            <a:r>
              <a:rPr lang="en-IN" sz="2900" b="1" u="sng" dirty="0"/>
              <a:t>3. Full Adder (8-bit):</a:t>
            </a:r>
            <a:r>
              <a:rPr lang="en-IN" sz="2900" dirty="0"/>
              <a:t>It is inside the adder tree.</a:t>
            </a:r>
          </a:p>
          <a:p>
            <a:r>
              <a:rPr lang="en-IN" sz="2900" dirty="0"/>
              <a:t>Add 9 pixel values.</a:t>
            </a:r>
          </a:p>
          <a:p>
            <a:r>
              <a:rPr lang="en-IN" sz="2900" dirty="0"/>
              <a:t>Each pixel size is 8-bit</a:t>
            </a:r>
          </a:p>
          <a:p>
            <a:r>
              <a:rPr lang="en-IN" sz="2900" b="1" dirty="0"/>
              <a:t>FORMULA:</a:t>
            </a:r>
            <a:endParaRPr lang="en-IN" sz="2900" dirty="0"/>
          </a:p>
          <a:p>
            <a:r>
              <a:rPr lang="en-IN" sz="2900" dirty="0"/>
              <a:t>Sum=A ^ B ^ Cin</a:t>
            </a:r>
          </a:p>
          <a:p>
            <a:r>
              <a:rPr lang="en-IN" sz="2900" dirty="0"/>
              <a:t>Carry=A*B + B*Cin + A*Cin</a:t>
            </a:r>
          </a:p>
          <a:p>
            <a:pPr marL="0" indent="0">
              <a:buNone/>
            </a:pPr>
            <a:r>
              <a:rPr lang="en-IN" sz="2900" b="1" u="sng" dirty="0"/>
              <a:t>4. Output </a:t>
            </a:r>
            <a:r>
              <a:rPr lang="en-IN" sz="2900" b="1" u="sng" dirty="0" err="1"/>
              <a:t>Register</a:t>
            </a:r>
            <a:r>
              <a:rPr lang="en-IN" sz="2900" b="1" dirty="0" err="1"/>
              <a:t>:</a:t>
            </a:r>
            <a:r>
              <a:rPr lang="en-IN" sz="2900" dirty="0" err="1"/>
              <a:t>To</a:t>
            </a:r>
            <a:r>
              <a:rPr lang="en-IN" sz="2900" dirty="0"/>
              <a:t> store the final blurred pixel</a:t>
            </a:r>
          </a:p>
          <a:p>
            <a:pPr lvl="0"/>
            <a:r>
              <a:rPr lang="en-IN" sz="2900" dirty="0"/>
              <a:t>Ensures stable &amp; synchronized output</a:t>
            </a:r>
          </a:p>
          <a:p>
            <a:pPr lvl="0"/>
            <a:r>
              <a:rPr lang="en-IN" sz="2900" dirty="0"/>
              <a:t>It Removes glitches</a:t>
            </a:r>
          </a:p>
          <a:p>
            <a:r>
              <a:rPr lang="en-IN" sz="2900" b="1" dirty="0"/>
              <a:t>FORMULA:</a:t>
            </a:r>
            <a:r>
              <a:rPr lang="en-IN" sz="2900" dirty="0"/>
              <a:t>Q(t+1) =  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13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9FF5-3B9B-8EF3-B9A3-26CD9E35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7A8F-FBF3-1938-EF90-C16BB1BB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ALISA CARISMA FERNANDES : </a:t>
            </a:r>
            <a:r>
              <a:rPr lang="en-US" sz="1800" dirty="0">
                <a:hlinkClick r:id="rId2"/>
              </a:rPr>
              <a:t>https://github.com/alisacarisma9</a:t>
            </a:r>
            <a:r>
              <a:rPr lang="en-US" sz="1800">
                <a:hlinkClick r:id="rId2"/>
              </a:rPr>
              <a:t>/imageblur</a:t>
            </a:r>
            <a:endParaRPr lang="en-US" sz="180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AVIKSHITH DION: </a:t>
            </a:r>
            <a:r>
              <a:rPr lang="en-US" sz="1800" dirty="0">
                <a:hlinkClick r:id="rId3"/>
              </a:rPr>
              <a:t>https://github.com/Avikshith9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ADHITHYA K: </a:t>
            </a:r>
            <a:r>
              <a:rPr lang="en-US" sz="1800" dirty="0">
                <a:hlinkClick r:id="rId4"/>
              </a:rPr>
              <a:t>https://github.com/Adithya161105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ASHWIN MADTHA: </a:t>
            </a:r>
            <a:r>
              <a:rPr lang="en-US" sz="1800" dirty="0">
                <a:hlinkClick r:id="rId5"/>
              </a:rPr>
              <a:t>https://github.com/ashwinmadtha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0383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798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                    Title: FPGA-Based Image Blur Filter using Parallel Matrix Computation </vt:lpstr>
      <vt:lpstr>Problem statement:</vt:lpstr>
      <vt:lpstr>Background:</vt:lpstr>
      <vt:lpstr> Review of Existing Work: </vt:lpstr>
      <vt:lpstr>Block diagram:</vt:lpstr>
      <vt:lpstr>Architecture diagram:</vt:lpstr>
      <vt:lpstr>Software requirements:</vt:lpstr>
      <vt:lpstr>Theoritical background:</vt:lpstr>
      <vt:lpstr>GITHUB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alisa sianna</dc:creator>
  <cp:lastModifiedBy>alisa sianna</cp:lastModifiedBy>
  <cp:revision>6</cp:revision>
  <dcterms:created xsi:type="dcterms:W3CDTF">2026-05-11T16:01:52Z</dcterms:created>
  <dcterms:modified xsi:type="dcterms:W3CDTF">2026-05-12T08:25:12Z</dcterms:modified>
</cp:coreProperties>
</file>